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7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518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640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212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29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841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495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45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029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289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3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699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9966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096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275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123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647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8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4629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84992" y="2780045"/>
            <a:ext cx="8791575" cy="109207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smtClean="0"/>
              <a:t>Digital cultural heritage: preserving the past, safeguarding the present and empowering the future</a:t>
            </a:r>
            <a:endParaRPr lang="en-ZA" sz="2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20377" y="5378084"/>
            <a:ext cx="4471623" cy="1655762"/>
          </a:xfrm>
        </p:spPr>
        <p:txBody>
          <a:bodyPr/>
          <a:lstStyle/>
          <a:p>
            <a:r>
              <a:rPr lang="en-US" b="1" dirty="0" smtClean="0"/>
              <a:t>Presented by: FARAI BELIEVE ZVIDZAI</a:t>
            </a:r>
          </a:p>
          <a:p>
            <a:r>
              <a:rPr lang="en-US" b="1" dirty="0" smtClean="0"/>
              <a:t>MA DIGITAL HUMANITIES, UZ</a:t>
            </a:r>
            <a:endParaRPr lang="en-US" b="1" dirty="0"/>
          </a:p>
          <a:p>
            <a:r>
              <a:rPr lang="en-US" b="1" dirty="0" smtClean="0"/>
              <a:t>BA DUAL HISTORY &amp; SHONA, UZ</a:t>
            </a:r>
            <a:endParaRPr lang="en-ZA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5375" b="57063" l="0" r="92083">
                        <a14:foregroundMark x1="41528" y1="54375" x2="41528" y2="54375"/>
                        <a14:backgroundMark x1="12639" y1="42313" x2="11944" y2="37563"/>
                        <a14:backgroundMark x1="80972" y1="46563" x2="80972" y2="46563"/>
                        <a14:backgroundMark x1="74167" y1="49000" x2="74167" y2="49000"/>
                        <a14:backgroundMark x1="71250" y1="49750" x2="71250" y2="49750"/>
                        <a14:backgroundMark x1="65833" y1="50000" x2="65833" y2="50000"/>
                        <a14:backgroundMark x1="23472" y1="47688" x2="23472" y2="47688"/>
                        <a14:backgroundMark x1="26667" y1="48375" x2="26667" y2="48375"/>
                        <a14:backgroundMark x1="40556" y1="51313" x2="40556" y2="513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880" t="19872" r="6790" b="43718"/>
          <a:stretch/>
        </p:blipFill>
        <p:spPr>
          <a:xfrm>
            <a:off x="5433585" y="486269"/>
            <a:ext cx="2121642" cy="203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92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 IS DIGITAL CULTURAL HERITAGE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ZA" dirty="0" smtClean="0"/>
              <a:t>Digital Cultural Heritage (DCH) refers to the preservation, accessibility</a:t>
            </a:r>
            <a:r>
              <a:rPr lang="en-ZA" smtClean="0"/>
              <a:t>, dissemination of </a:t>
            </a:r>
            <a:r>
              <a:rPr lang="en-ZA" dirty="0" smtClean="0"/>
              <a:t>cultural heritage through digitization and digitalisation (digital technology). </a:t>
            </a:r>
          </a:p>
          <a:p>
            <a:r>
              <a:rPr lang="en-ZA" dirty="0" smtClean="0"/>
              <a:t>According the Digital Repository of Ireland (2025), </a:t>
            </a:r>
            <a:r>
              <a:rPr lang="en-ZA" i="1" dirty="0" smtClean="0"/>
              <a:t>‘…the maintenance of cultural objects through digitisation and digital preservation’.</a:t>
            </a:r>
          </a:p>
          <a:p>
            <a:r>
              <a:rPr lang="en-ZA" dirty="0" smtClean="0"/>
              <a:t>In Africa’s digital age, cultural heritage is being reimagined through vibrant online platforms, showcasing rich traditions, languages and art forms to a global audience (Reliving 20</a:t>
            </a:r>
            <a:r>
              <a:rPr lang="en-ZA" baseline="30000" dirty="0" smtClean="0"/>
              <a:t>th</a:t>
            </a:r>
            <a:r>
              <a:rPr lang="en-ZA" dirty="0" smtClean="0"/>
              <a:t>century in the digital age). – Afrotriumphalist Perspective</a:t>
            </a:r>
          </a:p>
          <a:p>
            <a:r>
              <a:rPr lang="en-ZA" dirty="0" smtClean="0"/>
              <a:t>This encompasses the convention of physical artifacts, oral histories, documents and other cultural resources into the so-called digital products like 3D models, virtual or augmented reality, mobile applications and online exhibitions.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4256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KEY ASPECTS OF DIGITAL CULTURAL HERITAGE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ZA" dirty="0" smtClean="0"/>
              <a:t>Digitization</a:t>
            </a:r>
          </a:p>
          <a:p>
            <a:r>
              <a:rPr lang="en-ZA" dirty="0" smtClean="0"/>
              <a:t>Interdisciplinary collaboration (e.g. Youtuborality and Cyberture)</a:t>
            </a:r>
          </a:p>
          <a:p>
            <a:r>
              <a:rPr lang="en-ZA" dirty="0" smtClean="0"/>
              <a:t>Digital Preservation</a:t>
            </a:r>
          </a:p>
          <a:p>
            <a:r>
              <a:rPr lang="en-ZA" dirty="0" smtClean="0"/>
              <a:t>Accessibility</a:t>
            </a:r>
          </a:p>
          <a:p>
            <a:r>
              <a:rPr lang="en-ZA" dirty="0" smtClean="0"/>
              <a:t>Tangible Heritage</a:t>
            </a:r>
          </a:p>
          <a:p>
            <a:r>
              <a:rPr lang="en-ZA" dirty="0" smtClean="0"/>
              <a:t>Intangible Heritage</a:t>
            </a:r>
          </a:p>
          <a:p>
            <a:r>
              <a:rPr lang="en-ZA" dirty="0" smtClean="0"/>
              <a:t>Digital Content Creation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64935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WHY IT (DCH) MATTERS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ZA" dirty="0" smtClean="0"/>
              <a:t>We are now living in the digital age mainly orchestrated by the so-called digital revolution where our lives are being mediated by the digital.</a:t>
            </a:r>
          </a:p>
          <a:p>
            <a:r>
              <a:rPr lang="en-ZA" dirty="0" smtClean="0"/>
              <a:t>Most of the human activities is moving into the digital world, into the cyberspace. </a:t>
            </a:r>
          </a:p>
          <a:p>
            <a:r>
              <a:rPr lang="en-ZA" dirty="0" smtClean="0"/>
              <a:t>Hence, there are five major reasons why digital cultural heritage is essential today:</a:t>
            </a:r>
          </a:p>
          <a:p>
            <a:pPr marL="457200" indent="-457200">
              <a:buFont typeface="+mj-lt"/>
              <a:buAutoNum type="alphaLcPeriod"/>
            </a:pPr>
            <a:r>
              <a:rPr lang="en-ZA" dirty="0" smtClean="0"/>
              <a:t>Cultural identity</a:t>
            </a:r>
          </a:p>
          <a:p>
            <a:pPr marL="457200" indent="-457200">
              <a:buFont typeface="+mj-lt"/>
              <a:buAutoNum type="alphaLcPeriod"/>
            </a:pPr>
            <a:r>
              <a:rPr lang="en-ZA" dirty="0" smtClean="0"/>
              <a:t>National pride</a:t>
            </a:r>
          </a:p>
          <a:p>
            <a:pPr marL="457200" indent="-457200">
              <a:buFont typeface="+mj-lt"/>
              <a:buAutoNum type="alphaLcPeriod"/>
            </a:pPr>
            <a:r>
              <a:rPr lang="en-ZA" dirty="0" smtClean="0"/>
              <a:t>Knowledge transmission</a:t>
            </a:r>
          </a:p>
          <a:p>
            <a:pPr marL="457200" indent="-457200">
              <a:buFont typeface="+mj-lt"/>
              <a:buAutoNum type="alphaLcPeriod"/>
            </a:pPr>
            <a:r>
              <a:rPr lang="en-ZA" dirty="0" smtClean="0"/>
              <a:t>Modernizing Heritage Practices</a:t>
            </a:r>
          </a:p>
          <a:p>
            <a:pPr marL="457200" indent="-457200">
              <a:buFont typeface="+mj-lt"/>
              <a:buAutoNum type="alphaLcPeriod"/>
            </a:pPr>
            <a:r>
              <a:rPr lang="en-ZA" dirty="0" smtClean="0"/>
              <a:t>Access and Inclusion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7298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CONT’D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ZA" dirty="0" smtClean="0"/>
              <a:t>Rosenzweig notes that, </a:t>
            </a:r>
            <a:r>
              <a:rPr lang="en-ZA" i="1" dirty="0" smtClean="0"/>
              <a:t>‘Digitization of cultural heritage is not merely a technological endeavour; it is a moral responsibility to ensure that our history survives the decay of time’.</a:t>
            </a:r>
          </a:p>
          <a:p>
            <a:r>
              <a:rPr lang="en-ZA" i="1" dirty="0" smtClean="0"/>
              <a:t>The aforementioned quotation highlights the role of digitization in preserving cultural heritage for collective memory and identity (Cultural Memory Theory).</a:t>
            </a:r>
          </a:p>
          <a:p>
            <a:r>
              <a:rPr lang="en-ZA" i="1" dirty="0" smtClean="0"/>
              <a:t>DCH is not only about exploration, it is about education.</a:t>
            </a:r>
          </a:p>
          <a:p>
            <a:r>
              <a:rPr lang="en-ZA" i="1" dirty="0" smtClean="0"/>
              <a:t>In short, it connects the past to the future using today’s tools.</a:t>
            </a:r>
            <a:endParaRPr lang="en-ZA" i="1" dirty="0"/>
          </a:p>
        </p:txBody>
      </p:sp>
    </p:spTree>
    <p:extLst>
      <p:ext uri="{BB962C8B-B14F-4D97-AF65-F5344CB8AC3E}">
        <p14:creationId xmlns:p14="http://schemas.microsoft.com/office/powerpoint/2010/main" val="18394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CONTEXT: ZIMBABWE’S CULTURAL LANDSCAPE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ZA" dirty="0" smtClean="0"/>
              <a:t>Zimbabwe in particular and Africa in general has rich tangible and intangible heritage for instance; oral traditions, Shona sculpture, traditional ceremonies.</a:t>
            </a:r>
          </a:p>
          <a:p>
            <a:r>
              <a:rPr lang="en-ZA" dirty="0" smtClean="0"/>
              <a:t>Indigenous Knowledge Systems – Bodies of knowledge of the indigenous people of a particular geographical areas that they have survived on for a very long time (Mapara, 2009). </a:t>
            </a:r>
          </a:p>
          <a:p>
            <a:r>
              <a:rPr lang="en-ZA" dirty="0" smtClean="0"/>
              <a:t>Due to the intrusion of external forces, indigenous culture faced serious threats of distortion and misrepresentation. (IKS as combat literature)</a:t>
            </a:r>
          </a:p>
          <a:p>
            <a:r>
              <a:rPr lang="en-ZA" dirty="0" smtClean="0"/>
              <a:t>King Leopold II’s envoy to Africa Henry Stanley called Africa a ‘Dark Continent’.</a:t>
            </a:r>
          </a:p>
          <a:p>
            <a:r>
              <a:rPr lang="en-ZA" i="1" dirty="0" smtClean="0"/>
              <a:t>‘Because African history, political or otherwise, has been mainly through the eye of the conquerors, missionaries, and adventurer, whose interpretation of Africa and its people in the most cases is a kind of seek fantasy, it is time that Africans tell their own story’ (Clarke, 1991:xi)</a:t>
            </a:r>
            <a:endParaRPr lang="en-ZA" i="1" dirty="0"/>
          </a:p>
        </p:txBody>
      </p:sp>
    </p:spTree>
    <p:extLst>
      <p:ext uri="{BB962C8B-B14F-4D97-AF65-F5344CB8AC3E}">
        <p14:creationId xmlns:p14="http://schemas.microsoft.com/office/powerpoint/2010/main" val="526458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05335"/>
            <a:ext cx="9905998" cy="1478570"/>
          </a:xfrm>
        </p:spPr>
        <p:txBody>
          <a:bodyPr/>
          <a:lstStyle/>
          <a:p>
            <a:pPr algn="ctr"/>
            <a:r>
              <a:rPr lang="en-ZA" dirty="0" smtClean="0"/>
              <a:t>EXAMPLES OF DIABOLISED PRACTICES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447055"/>
            <a:ext cx="9905999" cy="3541714"/>
          </a:xfrm>
        </p:spPr>
        <p:txBody>
          <a:bodyPr>
            <a:noAutofit/>
          </a:bodyPr>
          <a:lstStyle/>
          <a:p>
            <a:r>
              <a:rPr lang="en-ZA" sz="1800" dirty="0" smtClean="0"/>
              <a:t>Worshipping through ancestral spirits</a:t>
            </a:r>
          </a:p>
          <a:p>
            <a:r>
              <a:rPr lang="en-ZA" sz="1800" dirty="0" smtClean="0"/>
              <a:t>Initiation ceremonies e.g. puberty rituals</a:t>
            </a:r>
          </a:p>
          <a:p>
            <a:r>
              <a:rPr lang="en-ZA" sz="1800" dirty="0" smtClean="0"/>
              <a:t>Polygamy</a:t>
            </a:r>
          </a:p>
          <a:p>
            <a:r>
              <a:rPr lang="en-ZA" sz="1800" dirty="0" smtClean="0"/>
              <a:t>Totem Systems</a:t>
            </a:r>
          </a:p>
          <a:p>
            <a:r>
              <a:rPr lang="en-ZA" sz="1800" dirty="0" smtClean="0"/>
              <a:t>Oral Traditions</a:t>
            </a:r>
          </a:p>
          <a:p>
            <a:r>
              <a:rPr lang="en-ZA" sz="1800" dirty="0" smtClean="0"/>
              <a:t>This is better explained by the Shona proverbial lore that says in the vernacular, </a:t>
            </a:r>
            <a:r>
              <a:rPr lang="en-ZA" sz="1800" i="1" dirty="0" smtClean="0"/>
              <a:t>‘Chirungu chakauya nechirungurira’ (Atriaesthetic Perspective).</a:t>
            </a:r>
          </a:p>
          <a:p>
            <a:r>
              <a:rPr lang="en-ZA" sz="1800" dirty="0" smtClean="0"/>
              <a:t>The derogatory diction and attitudes expressed by the colonizers used by the whites triggered cultural shock and identity disruption among indigenous communities.</a:t>
            </a:r>
          </a:p>
          <a:p>
            <a:r>
              <a:rPr lang="en-ZA" sz="1800" dirty="0" smtClean="0"/>
              <a:t>Digital technology now empowers indigenous people to tell their own stories and showcase their culture and Indigenous Knowledge Systems to the world.</a:t>
            </a:r>
          </a:p>
          <a:p>
            <a:r>
              <a:rPr lang="en-ZA" sz="1800" dirty="0" smtClean="0"/>
              <a:t>Digitafrocentricity is a theory that centres African identity in the digital age, using technology to preserve, reclaim, and amplify African culture and narratives.</a:t>
            </a:r>
          </a:p>
        </p:txBody>
      </p:sp>
    </p:spTree>
    <p:extLst>
      <p:ext uri="{BB962C8B-B14F-4D97-AF65-F5344CB8AC3E}">
        <p14:creationId xmlns:p14="http://schemas.microsoft.com/office/powerpoint/2010/main" val="2180217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PRESERVING THE PAST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ZA" sz="2900" b="1" dirty="0" smtClean="0"/>
              <a:t>Digitization, digitalisation and mechanisation of cultural heritage: </a:t>
            </a:r>
            <a:r>
              <a:rPr lang="en-ZA" sz="2900" dirty="0" smtClean="0"/>
              <a:t>Digital preservation allows the natives to capture, store, retrieve and disseminate valuable cultural materials in durable and accessible formats. (Digital Materiality)</a:t>
            </a:r>
          </a:p>
          <a:p>
            <a:r>
              <a:rPr lang="en-ZA" sz="2900" dirty="0" smtClean="0"/>
              <a:t>For example, archiving historical documents, photographs, and artifacts digitally, ensuring they are not lost with time.</a:t>
            </a:r>
          </a:p>
          <a:p>
            <a:r>
              <a:rPr lang="en-ZA" sz="2900" dirty="0" smtClean="0"/>
              <a:t>Recording oral histories and traditional stories for posterity.</a:t>
            </a:r>
          </a:p>
          <a:p>
            <a:r>
              <a:rPr lang="en-ZA" sz="2900" dirty="0" smtClean="0"/>
              <a:t>Institutions like the National Archives of Zimbabwe have been working on digitizing colonial records and liberation war materials.</a:t>
            </a:r>
          </a:p>
          <a:p>
            <a:r>
              <a:rPr lang="en-ZA" sz="2900" dirty="0" smtClean="0"/>
              <a:t>Some of the Zimbabwean heritage artifacts can be preserved through high-resolution image libraries and artist interviews.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6380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CONT’D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ZA" b="1" dirty="0" smtClean="0"/>
              <a:t>Use of Indigenous Languages: </a:t>
            </a:r>
            <a:r>
              <a:rPr lang="en-ZA" dirty="0" smtClean="0"/>
              <a:t>Preserving the past also means maintaining language.</a:t>
            </a:r>
          </a:p>
          <a:p>
            <a:r>
              <a:rPr lang="en-ZA" dirty="0" smtClean="0"/>
              <a:t>According to Fanon, </a:t>
            </a:r>
            <a:r>
              <a:rPr lang="en-ZA" i="1" dirty="0" smtClean="0"/>
              <a:t>‘Language carries a culture’.</a:t>
            </a:r>
          </a:p>
          <a:p>
            <a:r>
              <a:rPr lang="en-ZA" dirty="0" smtClean="0"/>
              <a:t>This is basically enabled by digitising (IWK) stories, games, songs and oral history in the pre-colonial Zimbabwe and ensure that culture is preserved in its most authentic form.</a:t>
            </a:r>
          </a:p>
          <a:p>
            <a:r>
              <a:rPr lang="en-ZA" dirty="0" smtClean="0"/>
              <a:t>The importance of </a:t>
            </a:r>
            <a:r>
              <a:rPr lang="en-ZA" smtClean="0"/>
              <a:t>Computational Linguistics (NLP).</a:t>
            </a:r>
            <a:endParaRPr lang="en-ZA" dirty="0" smtClean="0"/>
          </a:p>
          <a:p>
            <a:r>
              <a:rPr lang="en-ZA" dirty="0" smtClean="0"/>
              <a:t>A notable example of digital products that utilise Shona language as its prime language is an android application for kindergarten named </a:t>
            </a:r>
            <a:r>
              <a:rPr lang="en-ZA" i="1" dirty="0" smtClean="0"/>
              <a:t>TauraApp </a:t>
            </a:r>
            <a:r>
              <a:rPr lang="en-ZA" dirty="0" smtClean="0"/>
              <a:t>(2022).</a:t>
            </a:r>
          </a:p>
          <a:p>
            <a:r>
              <a:rPr lang="en-ZA" dirty="0" smtClean="0"/>
              <a:t>It includes animal sounds and their respective Shona names, national anthem, and pre-colonial digitized African games that is yet to come.</a:t>
            </a:r>
          </a:p>
          <a:p>
            <a:endParaRPr lang="en-ZA" i="1" dirty="0" smtClean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13523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CONT’D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ZA" b="1" dirty="0" smtClean="0"/>
              <a:t>Digital Storytelling: </a:t>
            </a:r>
            <a:r>
              <a:rPr lang="en-ZA" dirty="0" smtClean="0"/>
              <a:t>A process of reimagining traditional</a:t>
            </a:r>
            <a:r>
              <a:rPr lang="en-ZA" b="1" dirty="0" smtClean="0"/>
              <a:t>  </a:t>
            </a:r>
            <a:r>
              <a:rPr lang="en-ZA" dirty="0" smtClean="0"/>
              <a:t>folklore (</a:t>
            </a:r>
            <a:r>
              <a:rPr lang="en-ZA" dirty="0" err="1" smtClean="0"/>
              <a:t>Ngano</a:t>
            </a:r>
            <a:r>
              <a:rPr lang="en-ZA" dirty="0" smtClean="0"/>
              <a:t>), myths, and historical narratives creatively through digital tools. For instance: </a:t>
            </a:r>
          </a:p>
          <a:p>
            <a:pPr marL="457200" indent="-457200">
              <a:buFont typeface="+mj-lt"/>
              <a:buAutoNum type="alphaLcPeriod"/>
            </a:pPr>
            <a:r>
              <a:rPr lang="en-ZA" dirty="0" smtClean="0"/>
              <a:t>Podcasts (TheTribblerPodcast)</a:t>
            </a:r>
          </a:p>
          <a:p>
            <a:pPr marL="457200" indent="-457200">
              <a:buFont typeface="+mj-lt"/>
              <a:buAutoNum type="alphaLcPeriod"/>
            </a:pPr>
            <a:r>
              <a:rPr lang="en-ZA" dirty="0" smtClean="0"/>
              <a:t>Animations (I. T Mabasa)</a:t>
            </a:r>
          </a:p>
          <a:p>
            <a:pPr marL="457200" indent="-457200">
              <a:buFont typeface="+mj-lt"/>
              <a:buAutoNum type="alphaLcPeriod"/>
            </a:pPr>
            <a:r>
              <a:rPr lang="en-ZA" dirty="0" smtClean="0"/>
              <a:t>Websites (National Gallery of Zimbabwe)</a:t>
            </a:r>
          </a:p>
          <a:p>
            <a:pPr marL="457200" indent="-457200">
              <a:buFont typeface="+mj-lt"/>
              <a:buAutoNum type="alphaLcPeriod"/>
            </a:pPr>
            <a:r>
              <a:rPr lang="en-ZA" dirty="0" smtClean="0"/>
              <a:t>Social Media Series (African Finder, Hadzabe Tribe)</a:t>
            </a:r>
            <a:endParaRPr lang="en-ZA" dirty="0"/>
          </a:p>
          <a:p>
            <a:r>
              <a:rPr lang="en-ZA" dirty="0" smtClean="0"/>
              <a:t>These platforms engage young audiences while preserving IKS.</a:t>
            </a:r>
          </a:p>
          <a:p>
            <a:r>
              <a:rPr lang="en-ZA" dirty="0" smtClean="0"/>
              <a:t>The role of User-Generated Content (UGC) in Digital Cultural Heritage.</a:t>
            </a:r>
          </a:p>
        </p:txBody>
      </p:sp>
    </p:spTree>
    <p:extLst>
      <p:ext uri="{BB962C8B-B14F-4D97-AF65-F5344CB8AC3E}">
        <p14:creationId xmlns:p14="http://schemas.microsoft.com/office/powerpoint/2010/main" val="371342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CONT’D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710" y="2352123"/>
            <a:ext cx="9905999" cy="4188635"/>
          </a:xfrm>
        </p:spPr>
        <p:txBody>
          <a:bodyPr>
            <a:normAutofit/>
          </a:bodyPr>
          <a:lstStyle/>
          <a:p>
            <a:r>
              <a:rPr lang="en-ZA" b="1" dirty="0" smtClean="0"/>
              <a:t>How is UGC revolutionizing the preservation of cultural heritage?</a:t>
            </a:r>
          </a:p>
          <a:p>
            <a:r>
              <a:rPr lang="en-ZA" dirty="0" smtClean="0"/>
              <a:t>It enables individuals to document and share their unique traditions, stories and artifacts through photos, videos and personal narratives ensuring they are not lost to time.</a:t>
            </a:r>
          </a:p>
          <a:p>
            <a:r>
              <a:rPr lang="en-ZA" dirty="0" smtClean="0"/>
              <a:t>UGC offers a diverse and authentic perspective that institutional archive may overlook. </a:t>
            </a:r>
          </a:p>
          <a:p>
            <a:r>
              <a:rPr lang="en-ZA" dirty="0" smtClean="0"/>
              <a:t>Other powerful tools to focus on besides UGC are FYP and Algorithms.</a:t>
            </a:r>
          </a:p>
        </p:txBody>
      </p:sp>
    </p:spTree>
    <p:extLst>
      <p:ext uri="{BB962C8B-B14F-4D97-AF65-F5344CB8AC3E}">
        <p14:creationId xmlns:p14="http://schemas.microsoft.com/office/powerpoint/2010/main" val="66998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SAFEGUARDING THE PRESENT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ZA" dirty="0" smtClean="0"/>
              <a:t>Safeguarding the present means protecting cultural expressions that are still alive or surviving today not archiving the past. HOW?</a:t>
            </a:r>
          </a:p>
          <a:p>
            <a:r>
              <a:rPr lang="en-ZA" b="1" dirty="0" smtClean="0"/>
              <a:t>Promoting Living Heritage Digitally: </a:t>
            </a:r>
            <a:r>
              <a:rPr lang="en-ZA" dirty="0" smtClean="0"/>
              <a:t>This literary involves documenting ongoing cultural practices, festivals, music and rituals in real time.</a:t>
            </a:r>
          </a:p>
          <a:p>
            <a:r>
              <a:rPr lang="en-ZA" dirty="0" smtClean="0"/>
              <a:t>Tools like virtual museums and live streaming make culture accessible, especially to </a:t>
            </a:r>
            <a:r>
              <a:rPr lang="en-ZA" dirty="0"/>
              <a:t>y</a:t>
            </a:r>
            <a:r>
              <a:rPr lang="en-ZA" dirty="0" smtClean="0"/>
              <a:t>outh and diaspora communities. This includes hosting exhibitions, archives and performances online for public access.</a:t>
            </a:r>
          </a:p>
          <a:p>
            <a:r>
              <a:rPr lang="en-ZA" b="1" dirty="0" smtClean="0"/>
              <a:t>Community Participation Online: </a:t>
            </a:r>
            <a:r>
              <a:rPr lang="en-ZA" dirty="0" smtClean="0"/>
              <a:t>Involving local communities in content creation through mobile applications, WhatsApp groups and social media platforms.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75689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CONT’D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ZA" b="1" dirty="0" smtClean="0"/>
              <a:t>Encouraging local ownership: </a:t>
            </a:r>
            <a:r>
              <a:rPr lang="en-ZA" dirty="0" smtClean="0"/>
              <a:t>Communities must see themselves as co-creators of digital heritage. Why imitating extra-terrestrial cultural heritage when we carry gold. Quoting Shona native mantra, </a:t>
            </a:r>
            <a:r>
              <a:rPr lang="en-ZA" i="1" dirty="0" smtClean="0"/>
              <a:t>‘Nyika inovakwa nevene vayo’. (Combat Literature)</a:t>
            </a:r>
          </a:p>
          <a:p>
            <a:r>
              <a:rPr lang="en-ZA" dirty="0" smtClean="0"/>
              <a:t>A typical example is the use of foreign filters.</a:t>
            </a:r>
          </a:p>
          <a:p>
            <a:r>
              <a:rPr lang="en-ZA" dirty="0" smtClean="0"/>
              <a:t>Africa as the cradle of civilization.</a:t>
            </a:r>
          </a:p>
          <a:p>
            <a:r>
              <a:rPr lang="en-ZA" dirty="0" smtClean="0"/>
              <a:t>The use of digital technology to reclaim African cultural heritage. (Cyber-war)</a:t>
            </a:r>
          </a:p>
          <a:p>
            <a:r>
              <a:rPr lang="en-ZA" dirty="0" smtClean="0"/>
              <a:t>Empowering local artist to reach global audiences (Digital Marketing) e.g. Jah Prayzah.</a:t>
            </a:r>
          </a:p>
          <a:p>
            <a:r>
              <a:rPr lang="en-ZA" dirty="0" smtClean="0"/>
              <a:t>According to Chiome (1996:2), </a:t>
            </a:r>
            <a:r>
              <a:rPr lang="en-ZA" i="1" dirty="0" smtClean="0"/>
              <a:t>‘Music is the highest form of poetry’.</a:t>
            </a:r>
          </a:p>
          <a:p>
            <a:r>
              <a:rPr lang="en-ZA" dirty="0" smtClean="0"/>
              <a:t>An artist is the mirror of the society and a voice of the voiceless.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37167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EMPOWERING THE FUTURE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988230"/>
            <a:ext cx="9905999" cy="3541714"/>
          </a:xfrm>
        </p:spPr>
        <p:txBody>
          <a:bodyPr>
            <a:noAutofit/>
          </a:bodyPr>
          <a:lstStyle/>
          <a:p>
            <a:r>
              <a:rPr lang="en-ZA" sz="1800" dirty="0" smtClean="0"/>
              <a:t>Empowering the future means equipping communities especially the ‘youth’ with digital skills, tools and platforms needed to actively shape, share and sustain their cultural heritage in a rapidly evolving cyber world for instance application of Web 3.0 (The semantic Web and Decentralized Web) – AI and ML.</a:t>
            </a:r>
          </a:p>
          <a:p>
            <a:r>
              <a:rPr lang="en-ZA" sz="1800" b="1" dirty="0" smtClean="0"/>
              <a:t>Digital Literacy for Youth: </a:t>
            </a:r>
            <a:r>
              <a:rPr lang="en-ZA" sz="1800" dirty="0" smtClean="0"/>
              <a:t>Equipping the next generation with skills in digitization, content creation and digital storytelling.</a:t>
            </a:r>
          </a:p>
          <a:p>
            <a:r>
              <a:rPr lang="en-ZA" sz="1800" dirty="0" smtClean="0"/>
              <a:t>Platforms like YouTube, Podcast, mobile apps and social media can become modern tools for cultural transmission. AR and VR experiences of heritage sites for education and tourism.</a:t>
            </a:r>
          </a:p>
          <a:p>
            <a:r>
              <a:rPr lang="en-ZA" sz="1800" dirty="0" smtClean="0"/>
              <a:t>Digitals skills are key to ensuring young people not only consume cultural content but become active creators and curators.</a:t>
            </a:r>
          </a:p>
          <a:p>
            <a:r>
              <a:rPr lang="en-ZA" sz="1800" dirty="0" smtClean="0"/>
              <a:t>Youths must move from being passive consumers to active creators of digital cultural content, shaping their heritage through technology.</a:t>
            </a:r>
            <a:endParaRPr lang="en-ZA" sz="1800" dirty="0"/>
          </a:p>
        </p:txBody>
      </p:sp>
    </p:spTree>
    <p:extLst>
      <p:ext uri="{BB962C8B-B14F-4D97-AF65-F5344CB8AC3E}">
        <p14:creationId xmlns:p14="http://schemas.microsoft.com/office/powerpoint/2010/main" val="3454285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CONT’D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ZA" sz="1800" b="1" dirty="0" smtClean="0"/>
              <a:t>Cultural Entrepreneurship: </a:t>
            </a:r>
            <a:r>
              <a:rPr lang="en-ZA" sz="1800" dirty="0" smtClean="0"/>
              <a:t>Utilizing digital platforms to ‘monetize’ craft, music, dance and traditional knowledge (AIKS). </a:t>
            </a:r>
          </a:p>
          <a:p>
            <a:r>
              <a:rPr lang="en-ZA" sz="1800" dirty="0" smtClean="0"/>
              <a:t>Promoting local artists and storytellers globally.</a:t>
            </a:r>
          </a:p>
          <a:p>
            <a:r>
              <a:rPr lang="en-ZA" sz="1800" dirty="0" smtClean="0"/>
              <a:t>CUT motto and its relevance.</a:t>
            </a:r>
          </a:p>
          <a:p>
            <a:r>
              <a:rPr lang="en-ZA" sz="1800" b="1" dirty="0" smtClean="0"/>
              <a:t>Education and Curriculum Integration: </a:t>
            </a:r>
            <a:r>
              <a:rPr lang="en-ZA" sz="1800" dirty="0" smtClean="0"/>
              <a:t>Embedding digital heritage in school and university syllabus.</a:t>
            </a:r>
          </a:p>
          <a:p>
            <a:r>
              <a:rPr lang="en-ZA" sz="1800" dirty="0" smtClean="0"/>
              <a:t>Supporting innovation hubs and digital humanities labs.</a:t>
            </a:r>
          </a:p>
          <a:p>
            <a:r>
              <a:rPr lang="en-ZA" sz="1800" dirty="0" smtClean="0"/>
              <a:t>This aligns with </a:t>
            </a:r>
            <a:r>
              <a:rPr lang="en-ZA" sz="1800" b="1" dirty="0" smtClean="0"/>
              <a:t>Education 5.0 </a:t>
            </a:r>
            <a:r>
              <a:rPr lang="en-ZA" sz="1800" dirty="0" smtClean="0"/>
              <a:t>which promotes innovation and industrialization through applied skills.</a:t>
            </a:r>
          </a:p>
          <a:p>
            <a:r>
              <a:rPr lang="en-ZA" sz="1800" dirty="0" smtClean="0"/>
              <a:t>It also supports Vision 2030 and National Development Strategy 1 (NDS1) by building creative industries, promoting social cohesion and encouraging inclusive growth.</a:t>
            </a:r>
            <a:endParaRPr lang="en-ZA" sz="1800" dirty="0"/>
          </a:p>
        </p:txBody>
      </p:sp>
    </p:spTree>
    <p:extLst>
      <p:ext uri="{BB962C8B-B14F-4D97-AF65-F5344CB8AC3E}">
        <p14:creationId xmlns:p14="http://schemas.microsoft.com/office/powerpoint/2010/main" val="416521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Methods and TOOLS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418013"/>
          </a:xfrm>
        </p:spPr>
        <p:txBody>
          <a:bodyPr>
            <a:normAutofit fontScale="77500" lnSpcReduction="20000"/>
          </a:bodyPr>
          <a:lstStyle/>
          <a:p>
            <a:r>
              <a:rPr lang="en-ZA" dirty="0" smtClean="0"/>
              <a:t>Digital Cultural Heritage today thrives on </a:t>
            </a:r>
            <a:r>
              <a:rPr lang="en-ZA" b="1" dirty="0" smtClean="0"/>
              <a:t>Web 2.0 </a:t>
            </a:r>
            <a:r>
              <a:rPr lang="en-ZA" dirty="0" smtClean="0"/>
              <a:t>Technologies – interactive, user-driven platforms that allows communities to create, share and preserve their cultural identities in real time.</a:t>
            </a:r>
          </a:p>
          <a:p>
            <a:r>
              <a:rPr lang="en-ZA" dirty="0" smtClean="0"/>
              <a:t>Digital Cultural Heritage is methodological by nature.</a:t>
            </a:r>
          </a:p>
          <a:p>
            <a:r>
              <a:rPr lang="en-ZA" dirty="0" smtClean="0"/>
              <a:t>Do not learn a programming language, learn a field of software:</a:t>
            </a:r>
          </a:p>
          <a:p>
            <a:r>
              <a:rPr lang="en-ZA" b="1" dirty="0" smtClean="0"/>
              <a:t>Text Analysis: </a:t>
            </a:r>
            <a:r>
              <a:rPr lang="en-ZA" dirty="0" smtClean="0"/>
              <a:t>Python and R</a:t>
            </a:r>
          </a:p>
          <a:p>
            <a:r>
              <a:rPr lang="en-ZA" b="1" dirty="0" smtClean="0"/>
              <a:t>Data Visualisation: </a:t>
            </a:r>
            <a:r>
              <a:rPr lang="en-ZA" dirty="0" smtClean="0"/>
              <a:t>JavaScript</a:t>
            </a:r>
          </a:p>
          <a:p>
            <a:r>
              <a:rPr lang="en-ZA" b="1" dirty="0" smtClean="0"/>
              <a:t>Web Development: </a:t>
            </a:r>
            <a:r>
              <a:rPr lang="en-ZA" dirty="0" smtClean="0"/>
              <a:t>Hyper Textual Mark-up Language (HTML) and Cascading Style Sheets (CSS)</a:t>
            </a:r>
          </a:p>
          <a:p>
            <a:r>
              <a:rPr lang="en-ZA" b="1" dirty="0" smtClean="0"/>
              <a:t>Geographic Information Systems (GIS): </a:t>
            </a:r>
            <a:r>
              <a:rPr lang="en-ZA" dirty="0" smtClean="0"/>
              <a:t>Python (Libraries like Geopandas)</a:t>
            </a:r>
          </a:p>
          <a:p>
            <a:r>
              <a:rPr lang="en-ZA" b="1" dirty="0" smtClean="0"/>
              <a:t>Databases Querying: </a:t>
            </a:r>
            <a:r>
              <a:rPr lang="en-ZA" dirty="0" smtClean="0"/>
              <a:t>SQL</a:t>
            </a:r>
          </a:p>
          <a:p>
            <a:r>
              <a:rPr lang="en-ZA" b="1" dirty="0" smtClean="0"/>
              <a:t>Artificial Intelligence (AI) and Machine Learning (ML) (Web 3.0): </a:t>
            </a:r>
            <a:r>
              <a:rPr lang="en-ZA" dirty="0" smtClean="0"/>
              <a:t>Analyse, restore or interpret heritage. Web 3.0 offers future potential.</a:t>
            </a:r>
          </a:p>
        </p:txBody>
      </p:sp>
    </p:spTree>
    <p:extLst>
      <p:ext uri="{BB962C8B-B14F-4D97-AF65-F5344CB8AC3E}">
        <p14:creationId xmlns:p14="http://schemas.microsoft.com/office/powerpoint/2010/main" val="2068310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CHALLENGES AND ETHICAL ISSUES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6"/>
            <a:ext cx="10002838" cy="4465639"/>
          </a:xfrm>
        </p:spPr>
        <p:txBody>
          <a:bodyPr>
            <a:normAutofit fontScale="70000" lnSpcReduction="20000"/>
          </a:bodyPr>
          <a:lstStyle/>
          <a:p>
            <a:r>
              <a:rPr lang="en-ZA" b="1" dirty="0" smtClean="0"/>
              <a:t>Breaking Away From The Convention: </a:t>
            </a:r>
            <a:r>
              <a:rPr lang="en-ZA" dirty="0" smtClean="0"/>
              <a:t>Indigenous people forced to abandon their traditions and values. (Western Filters, Exchange of fluffy </a:t>
            </a:r>
            <a:r>
              <a:rPr lang="en-ZA" smtClean="0"/>
              <a:t>for staff). </a:t>
            </a:r>
            <a:r>
              <a:rPr lang="en-ZA" dirty="0" smtClean="0"/>
              <a:t>Loss of cultural confidence.</a:t>
            </a:r>
            <a:endParaRPr lang="en-ZA" b="1" dirty="0" smtClean="0"/>
          </a:p>
          <a:p>
            <a:r>
              <a:rPr lang="en-ZA" b="1" dirty="0" smtClean="0"/>
              <a:t>Digital Divide: </a:t>
            </a:r>
            <a:r>
              <a:rPr lang="en-ZA" dirty="0" smtClean="0"/>
              <a:t>Limited access to internet, electricity and digital tools in rural areas. This creates digital exclusion. (Urban vs Rural)</a:t>
            </a:r>
          </a:p>
          <a:p>
            <a:r>
              <a:rPr lang="en-ZA" b="1" dirty="0" smtClean="0"/>
              <a:t>Cultural Sensitivity: </a:t>
            </a:r>
            <a:r>
              <a:rPr lang="en-ZA" dirty="0" smtClean="0"/>
              <a:t>Some practices, objects or knowledge are sacred and not meant for public or digital display. (Ethical Guidelines)</a:t>
            </a:r>
          </a:p>
          <a:p>
            <a:r>
              <a:rPr lang="en-ZA" b="1" dirty="0" smtClean="0"/>
              <a:t>Ownership and Consent: </a:t>
            </a:r>
            <a:r>
              <a:rPr lang="en-ZA" dirty="0" smtClean="0"/>
              <a:t>Who controls the content? Were communities consulted?</a:t>
            </a:r>
          </a:p>
          <a:p>
            <a:r>
              <a:rPr lang="en-ZA" b="1" dirty="0" smtClean="0"/>
              <a:t>Intellectual Property Rights: </a:t>
            </a:r>
            <a:r>
              <a:rPr lang="en-ZA" dirty="0" smtClean="0"/>
              <a:t>Protecting indigenous knowledge from exploitation or commercial misuse.</a:t>
            </a:r>
          </a:p>
          <a:p>
            <a:r>
              <a:rPr lang="en-ZA" b="1" dirty="0" smtClean="0"/>
              <a:t>Sustainability of Projects: </a:t>
            </a:r>
            <a:r>
              <a:rPr lang="en-ZA" dirty="0" smtClean="0"/>
              <a:t>Many digital initiatives lack long-term funding or local capacity to maintain them.</a:t>
            </a:r>
          </a:p>
          <a:p>
            <a:r>
              <a:rPr lang="en-ZA" b="1" dirty="0" smtClean="0"/>
              <a:t>Resistance to Technology (Luddite Mindset): </a:t>
            </a:r>
            <a:r>
              <a:rPr lang="en-ZA" dirty="0" smtClean="0"/>
              <a:t>Some cultural custodians fear technology (i.e. AI) will dilute or distort traditions. 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65333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 smtClean="0"/>
              <a:t>CONCLUSION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ZA" dirty="0" smtClean="0"/>
              <a:t>Digital Cultural Heritage bridges past, present and future.</a:t>
            </a:r>
          </a:p>
          <a:p>
            <a:r>
              <a:rPr lang="en-ZA" dirty="0" smtClean="0"/>
              <a:t>Empowers communities to preserve, protect and promote their identity. Aligns with Education 5.0, NDS1 and Vision 2030 goals for innovation, heritage and inclusive development.</a:t>
            </a:r>
          </a:p>
          <a:p>
            <a:r>
              <a:rPr lang="en-ZA" dirty="0" smtClean="0"/>
              <a:t>Calls for ethical community-driven and sustainable approaches.</a:t>
            </a:r>
          </a:p>
          <a:p>
            <a:r>
              <a:rPr lang="en-ZA" dirty="0" smtClean="0"/>
              <a:t>A digital future rooted in African knowledge systems is not only possible but necessary.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78867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0274" y="1379538"/>
            <a:ext cx="8791575" cy="2387600"/>
          </a:xfrm>
        </p:spPr>
        <p:txBody>
          <a:bodyPr>
            <a:normAutofit/>
          </a:bodyPr>
          <a:lstStyle/>
          <a:p>
            <a:pPr algn="ctr"/>
            <a:r>
              <a:rPr lang="en-ZA" sz="3600" dirty="0" smtClean="0"/>
              <a:t>NDATENDA |THANK YOU | NGIYABONGA</a:t>
            </a:r>
            <a:endParaRPr lang="en-ZA" sz="3600" dirty="0"/>
          </a:p>
        </p:txBody>
      </p:sp>
    </p:spTree>
    <p:extLst>
      <p:ext uri="{BB962C8B-B14F-4D97-AF65-F5344CB8AC3E}">
        <p14:creationId xmlns:p14="http://schemas.microsoft.com/office/powerpoint/2010/main" val="8916308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4059</TotalTime>
  <Words>1778</Words>
  <Application>Microsoft Office PowerPoint</Application>
  <PresentationFormat>Widescreen</PresentationFormat>
  <Paragraphs>124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Trebuchet MS</vt:lpstr>
      <vt:lpstr>Tw Cen MT</vt:lpstr>
      <vt:lpstr>Circuit</vt:lpstr>
      <vt:lpstr>Digital cultural heritage: preserving the past, safeguarding the present and empowering the future</vt:lpstr>
      <vt:lpstr>WHAT IS DIGITAL CULTURAL HERITAGE</vt:lpstr>
      <vt:lpstr>KEY ASPECTS OF DIGITAL CULTURAL HERITAGE</vt:lpstr>
      <vt:lpstr>WHY IT (DCH) MATTERS</vt:lpstr>
      <vt:lpstr>CONT’D</vt:lpstr>
      <vt:lpstr>CONTEXT: ZIMBABWE’S CULTURAL LANDSCAPE</vt:lpstr>
      <vt:lpstr>EXAMPLES OF DIABOLISED PRACTICES</vt:lpstr>
      <vt:lpstr>PRESERVING THE PAST</vt:lpstr>
      <vt:lpstr>CONT’D</vt:lpstr>
      <vt:lpstr>CONT’D</vt:lpstr>
      <vt:lpstr>CONT’D</vt:lpstr>
      <vt:lpstr>SAFEGUARDING THE PRESENT</vt:lpstr>
      <vt:lpstr>CONT’D</vt:lpstr>
      <vt:lpstr>EMPOWERING THE FUTURE</vt:lpstr>
      <vt:lpstr>CONT’D</vt:lpstr>
      <vt:lpstr>Methods and TOOLS</vt:lpstr>
      <vt:lpstr>CHALLENGES AND ETHICAL ISSUES</vt:lpstr>
      <vt:lpstr>CONCLUSION</vt:lpstr>
      <vt:lpstr>NDATENDA |THANK YOU | NGIYABONGA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cultural heritage: preserving the past, safeguarding the present and empowering the future</dc:title>
  <dc:creator>Justice Chakawayi</dc:creator>
  <cp:lastModifiedBy>Justice Chakawayi</cp:lastModifiedBy>
  <cp:revision>156</cp:revision>
  <dcterms:created xsi:type="dcterms:W3CDTF">2025-07-20T19:09:06Z</dcterms:created>
  <dcterms:modified xsi:type="dcterms:W3CDTF">2025-09-24T17:37:19Z</dcterms:modified>
</cp:coreProperties>
</file>